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E795"/>
              </a:solidFill>
              <a:ln w="25400" cap="flat">
                <a:solidFill>
                  <a:srgbClr val="2F3C7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E4A8C"/>
              </a:solidFill>
              <a:ln w="25400" cap="flat">
                <a:solidFill>
                  <a:srgbClr val="2F3C7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Efficiency</c:v>
                </c:pt>
                <c:pt idx="1">
                  <c:v>Gap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82.8</c:v>
                </c:pt>
                <c:pt idx="1">
                  <c:v>17.2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F3C7E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F3C7E"/>
                </a:solidFill>
                <a:latin typeface="Cambria"/>
              </a:rPr>
              <a:t>Median Shipping Lead Time by Ship Mode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Shipping Lead Time (Days)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F3C7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 Class</c:v>
                  </c:pt>
                  <c:pt idx="1">
                    <c:v>First Class</c:v>
                  </c:pt>
                  <c:pt idx="2">
                    <c:v>Second Class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F3C7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5E1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F7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6F76"/>
                    </a:solidFill>
                    <a:latin typeface="Arial"/>
                  </a:rPr>
                  <a:t>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4206240" cy="420624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926080" cy="292608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777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🚚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Nassau Candy Distributor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Efficiency Dashboard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278892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D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processing and dynamic dashboard built to analyze distribution efficiency and shipping performance across U.S. supply chain routes.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2F3C7E"/>
          </a:solidFill>
          <a:ln w="12700">
            <a:solidFill>
              <a:srgbClr val="4450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587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10,194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449884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Shipments (Orders)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9272" y="36576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2F3C7E"/>
          </a:solidFill>
          <a:ln w="12700">
            <a:solidFill>
              <a:srgbClr val="4450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38587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 Days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29000" y="449884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Lead Time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9904" y="36576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2F3C7E"/>
          </a:solidFill>
          <a:ln w="12700">
            <a:solidFill>
              <a:srgbClr val="4450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38587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99632" y="449884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Frequency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60536" y="365760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2F3C7E"/>
          </a:solidFill>
          <a:ln w="12700">
            <a:solidFill>
              <a:srgbClr val="4450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0536" y="38587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82.8 / 100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970264" y="449884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Efficiency Score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669280"/>
            <a:ext cx="678485" cy="310896"/>
          </a:xfrm>
          <a:prstGeom prst="roundRect">
            <a:avLst>
              <a:gd name="adj" fmla="val 50000"/>
            </a:avLst>
          </a:prstGeom>
          <a:solidFill>
            <a:srgbClr val="343E7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669280"/>
            <a:ext cx="6784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391717" y="5669280"/>
            <a:ext cx="678485" cy="310896"/>
          </a:xfrm>
          <a:prstGeom prst="roundRect">
            <a:avLst>
              <a:gd name="adj" fmla="val 50000"/>
            </a:avLst>
          </a:prstGeom>
          <a:solidFill>
            <a:srgbClr val="343E7A"/>
          </a:solidFill>
          <a:ln/>
        </p:spPr>
      </p:sp>
      <p:sp>
        <p:nvSpPr>
          <p:cNvPr id="25" name="Text 23"/>
          <p:cNvSpPr/>
          <p:nvPr/>
        </p:nvSpPr>
        <p:spPr>
          <a:xfrm>
            <a:off x="1391717" y="5669280"/>
            <a:ext cx="6784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34794" y="5669280"/>
            <a:ext cx="598932" cy="310896"/>
          </a:xfrm>
          <a:prstGeom prst="roundRect">
            <a:avLst>
              <a:gd name="adj" fmla="val 50000"/>
            </a:avLst>
          </a:prstGeom>
          <a:solidFill>
            <a:srgbClr val="343E7A"/>
          </a:solidFill>
          <a:ln/>
        </p:spPr>
      </p:sp>
      <p:sp>
        <p:nvSpPr>
          <p:cNvPr id="27" name="Text 25"/>
          <p:cNvSpPr/>
          <p:nvPr/>
        </p:nvSpPr>
        <p:spPr>
          <a:xfrm>
            <a:off x="2234794" y="5669280"/>
            <a:ext cx="5989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98318" y="5669280"/>
            <a:ext cx="917143" cy="310896"/>
          </a:xfrm>
          <a:prstGeom prst="roundRect">
            <a:avLst>
              <a:gd name="adj" fmla="val 50000"/>
            </a:avLst>
          </a:prstGeom>
          <a:solidFill>
            <a:srgbClr val="343E7A"/>
          </a:solidFill>
          <a:ln/>
        </p:spPr>
      </p:sp>
      <p:sp>
        <p:nvSpPr>
          <p:cNvPr id="29" name="Text 27"/>
          <p:cNvSpPr/>
          <p:nvPr/>
        </p:nvSpPr>
        <p:spPr>
          <a:xfrm>
            <a:off x="2998318" y="5669280"/>
            <a:ext cx="9171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080053" y="5669280"/>
            <a:ext cx="678485" cy="310896"/>
          </a:xfrm>
          <a:prstGeom prst="roundRect">
            <a:avLst>
              <a:gd name="adj" fmla="val 50000"/>
            </a:avLst>
          </a:prstGeom>
          <a:solidFill>
            <a:srgbClr val="343E7A"/>
          </a:solidFill>
          <a:ln/>
        </p:spPr>
      </p:sp>
      <p:sp>
        <p:nvSpPr>
          <p:cNvPr id="31" name="Text 29"/>
          <p:cNvSpPr/>
          <p:nvPr/>
        </p:nvSpPr>
        <p:spPr>
          <a:xfrm>
            <a:off x="4080053" y="5669280"/>
            <a:ext cx="6784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Executive Summary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Processing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Pipeline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18745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19431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Normalization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raw shipping records and handled missing values across Order Date and Ship Date fields.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92140" y="18745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6921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72000" y="31546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precise lead times (Ship Date − Order Date) and categorized shipments into distinct factory distribution channels: Secret Factory, Sugar Shack, and Lot's O' Nuts.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41180" y="18745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4411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Metrics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21040" y="31546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route-level performance scoring based on transit duration and delay occurrences.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E1E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873752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3272" y="4873752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89304" y="4873752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09320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df['Shipping_Lead_Time'] = (df['Ship Date'] - df['Order Date']).dt.days.abs()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division_factory_map = {'Chocolate': "Lot's O' Nuts", ...}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Cleaning Successfully Complete!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Processing Pipeline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Efficiency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&amp; High-Level KPIs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037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Command Center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macro view of supply chain health and core performance indicators.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6791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real-time volume across 10,194 shipments.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5204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3649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baseline 5.7-day average lead time for order fulfillments.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2062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0507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27.5% delay rate, identifying key areas for route optimization.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F4F1E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480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10,194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5504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63240" y="50749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F4F1EA"/>
          </a:solidFill>
          <a:ln/>
        </p:spPr>
      </p:sp>
      <p:sp>
        <p:nvSpPr>
          <p:cNvPr id="17" name="Text 15"/>
          <p:cNvSpPr/>
          <p:nvPr/>
        </p:nvSpPr>
        <p:spPr>
          <a:xfrm>
            <a:off x="3063240" y="51480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 Days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63240" y="55504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50749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F4F1EA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51480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03520" y="55504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Freq.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1554480"/>
            <a:ext cx="4005072" cy="4480560"/>
          </a:xfrm>
          <a:prstGeom prst="roundRect">
            <a:avLst>
              <a:gd name="adj" fmla="val 2740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181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Efficiency Score</a:t>
            </a:r>
            <a:endParaRPr lang="en-US" sz="15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909560" y="2240280"/>
          <a:ext cx="3566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7909560" y="3063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82.8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7909560" y="3584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818120" y="5257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available in-app: Route Overview • Geographic Heatmap • Ship Mode Performance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&amp; High-Level KPIs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Performance Leaderboard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vs. Slowest Routes — Overall Route Efficiency Leaderboard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Fastest Routes (Days)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4832"/>
          <a:ext cx="5349240" cy="3566160"/>
        </p:xfrm>
        <a:graphic>
          <a:graphicData uri="http://schemas.openxmlformats.org/drawingml/2006/table">
            <a:tbl>
              <a:tblPr/>
              <a:tblGrid>
                <a:gridCol w="3749040"/>
                <a:gridCol w="16002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South Carolina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Georgia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 Shack → Florida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Arkansas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Kentucky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536192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6263640" y="153619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5 Slowest Routes (Days)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84832"/>
          <a:ext cx="5349240" cy="3566160"/>
        </p:xfrm>
        <a:graphic>
          <a:graphicData uri="http://schemas.openxmlformats.org/drawingml/2006/table">
            <a:tbl>
              <a:tblPr/>
              <a:tblGrid>
                <a:gridCol w="3749040"/>
                <a:gridCol w="16002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Mississippi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 Shack → North Carolina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Louisiana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Mississippi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Louisiana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F9E795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Item:  </a:t>
            </a:r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logistical support on high-latency routes in the Mississippi and Carolina regional corridors.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Performance Leaderboard (Fastest vs. Slowest)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Geographical Heatmap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 &amp; Regional Analytics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Lead Time Visualization: an interactive U.S. map highlights fulfillment speeds across destination states — darker shading marks slower, higher-delay corridors.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94360" cy="320040"/>
          </a:xfrm>
          <a:prstGeom prst="rect">
            <a:avLst/>
          </a:prstGeom>
          <a:solidFill>
            <a:srgbClr val="FFF3EE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240280"/>
            <a:ext cx="594360" cy="320040"/>
          </a:xfrm>
          <a:prstGeom prst="rect">
            <a:avLst/>
          </a:prstGeom>
          <a:solidFill>
            <a:srgbClr val="FDDCD3"/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2240280"/>
            <a:ext cx="594360" cy="320040"/>
          </a:xfrm>
          <a:prstGeom prst="rect">
            <a:avLst/>
          </a:prstGeom>
          <a:solidFill>
            <a:srgbClr val="FBC1B4"/>
          </a:solidFill>
          <a:ln/>
        </p:spPr>
      </p:sp>
      <p:sp>
        <p:nvSpPr>
          <p:cNvPr id="8" name="Shape 6"/>
          <p:cNvSpPr/>
          <p:nvPr/>
        </p:nvSpPr>
        <p:spPr>
          <a:xfrm>
            <a:off x="2331720" y="2240280"/>
            <a:ext cx="594360" cy="320040"/>
          </a:xfrm>
          <a:prstGeom prst="rect">
            <a:avLst/>
          </a:prstGeom>
          <a:solidFill>
            <a:srgbClr val="F9A199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2240280"/>
            <a:ext cx="59436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2240280"/>
            <a:ext cx="594360" cy="320040"/>
          </a:xfrm>
          <a:prstGeom prst="rect">
            <a:avLst/>
          </a:prstGeom>
          <a:solidFill>
            <a:srgbClr val="D93A3E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2240280"/>
            <a:ext cx="594360" cy="320040"/>
          </a:xfrm>
          <a:prstGeom prst="rect">
            <a:avLst/>
          </a:prstGeom>
          <a:solidFill>
            <a:srgbClr val="B02024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2240280"/>
            <a:ext cx="594360" cy="320040"/>
          </a:xfrm>
          <a:prstGeom prst="rect">
            <a:avLst/>
          </a:prstGeom>
          <a:solidFill>
            <a:srgbClr val="6B0F1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240280"/>
            <a:ext cx="4754880" cy="320040"/>
          </a:xfrm>
          <a:prstGeom prst="rect">
            <a:avLst/>
          </a:prstGeom>
          <a:ln w="12700">
            <a:solidFill>
              <a:srgbClr val="E5E1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15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Lead Time →  low (light)  to  high (dark)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⛵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00200" y="33375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Coastal Hubs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40690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distribution hubs benefit from shorter, more predictable transit windows and consistently lower average lead times.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01752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32918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200" y="33375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Southern &amp; Interior Corridors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0" y="40690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transit corridors in southern and interior states — including Mississippi, the Carolinas, and North Dakota — experience elevated transit times compared to coastal hubs.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Value: enables regional logistics managers to identify geographic transit delays at a glance.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Heatmap Overview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 Efficiency by Ship Mode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Performance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9164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8013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Performance Comparison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80960" y="213055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lead times and delay percentages across Standard, Second Class, and Express shipping channels.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52360" y="320040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33101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0" y="363931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Higher-tier shipping classes drastically reduce lead time, but standard surface routes suffer higher variance in transit delays.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470916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0" y="4818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Goal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80960" y="514807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carrier SLAs (Service Level Agreements) for standard ground shipments.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Efficiency by Ship Mode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Filtering: Gulf Region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Deep Dive — Route Analysis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Gulf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40280" y="1508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1508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Mode: 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0" y="150876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5087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Threshold: 7 Days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Fastest (Days)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5349240" cy="3108960"/>
        </p:xfrm>
        <a:graphic>
          <a:graphicData uri="http://schemas.openxmlformats.org/drawingml/2006/table">
            <a:tbl>
              <a:tblPr/>
              <a:tblGrid>
                <a:gridCol w="3749040"/>
                <a:gridCol w="16002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Alabama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Louisiana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Virginia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Georgia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Virginia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63640" y="20574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20574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5 Slowest (Days)</a:t>
            </a:r>
            <a:endParaRPr lang="en-US" sz="14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606040"/>
          <a:ext cx="5349240" cy="3108960"/>
        </p:xfrm>
        <a:graphic>
          <a:graphicData uri="http://schemas.openxmlformats.org/drawingml/2006/table">
            <a:tbl>
              <a:tblPr/>
              <a:tblGrid>
                <a:gridCol w="3749040"/>
                <a:gridCol w="16002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Arkansas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Mississippi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Tennessee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North Carolina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 Shack → North Carolina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specific factory-to-state routes experiencing coastal transit bottlenecks and provides granular delay breakdowns to assist localized dispatch decisions.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Filtering: Gulf Region Route Analysis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Filtering: Interior Region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Deep Dive — Landlocked Route Optimization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Interior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06040" y="1508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508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Mode: 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50876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5087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Threshold: 7 Days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Fastest (Days)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5349240" cy="3108960"/>
        </p:xfrm>
        <a:graphic>
          <a:graphicData uri="http://schemas.openxmlformats.org/drawingml/2006/table">
            <a:tbl>
              <a:tblPr/>
              <a:tblGrid>
                <a:gridCol w="3749040"/>
                <a:gridCol w="16002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Minnesota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Minnesota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 Shack → Michigan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Missouri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Kansas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63640" y="20574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20574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5 Slowest (Days)</a:t>
            </a:r>
            <a:endParaRPr lang="en-US" sz="14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606040"/>
          <a:ext cx="5349240" cy="3108960"/>
        </p:xfrm>
        <a:graphic>
          <a:graphicData uri="http://schemas.openxmlformats.org/drawingml/2006/table">
            <a:tbl>
              <a:tblPr/>
              <a:tblGrid>
                <a:gridCol w="3749040"/>
                <a:gridCol w="16002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Lot's O' Nuts → North Dakota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Missouri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Nebraska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Illinois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Factory → Indiana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2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land transit drives higher average lead times compared to hub-adjacent routes; route efficiency scores reflect increased transit variability for interior factory dispatches.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Filtering: Interior Region Logistics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3840480" cy="384048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120640"/>
            <a:ext cx="3291840" cy="329184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 &amp; 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Next Steps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2F3C7E"/>
          </a:solidFill>
          <a:ln w="12700">
            <a:solidFill>
              <a:srgbClr val="44509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3100" y="1856232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943100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 Renegotiation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317296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Re-address fulfillment protocols on key bottleneck routes — e.g., Mississippi dispatches averaging 10 days.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00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2F3C7E"/>
          </a:solidFill>
          <a:ln w="12700">
            <a:solidFill>
              <a:srgbClr val="4450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37860" y="1856232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737860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2628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Re-allocation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99432" y="317296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high-demand stock closer to destination hubs with high delay frequencies.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2F3C7E"/>
          </a:solidFill>
          <a:ln w="12700">
            <a:solidFill>
              <a:srgbClr val="44509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32620" y="1856232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9532620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2104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Dashboard Tracking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94192" y="317296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real-time Streamlit filtering to dynamically monitor fulfillment improvements.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212A5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3159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Highlights: Overall &amp; Second-Class Leaderboards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Overall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029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Shack → Washington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54132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Days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93592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Overall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93592" y="5029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Factory → Mississippi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93592" y="54132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 Days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64224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(Second Class)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64224" y="5029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Factory → Florida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64224" y="54132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Days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34856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(Second Class)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34856" y="5029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Lot's O' Nuts → Virginia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34856" y="54132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7.34 Days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Nassau Candy Distributor: Route Efficiency 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2026-08-23T16:45:51Z</dcterms:created>
  <dcterms:modified xsi:type="dcterms:W3CDTF">2026-08-23T16:45:51Z</dcterms:modified>
</cp:coreProperties>
</file>